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0">
                <a:solidFill>
                  <a:srgbClr val="FFFFFF"/>
                </a:solidFill>
                <a:latin typeface="Times New Roman"/>
              </a:rPr>
              <a:t>Classificação de notícias da BBC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80467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BDBDBD"/>
                </a:solidFill>
                <a:latin typeface="Times New Roman"/>
              </a:rPr>
              <a:t>Projeto 2 — Regressão Logística (GD) × Árvore de Decisão própria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80467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Times New Roman"/>
              </a:rPr>
              <a:t>Matheus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Times New Roman"/>
              </a:rPr>
              <a:t>Inteligência Artificial · Ciência da Computação · IFG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Times New Roman"/>
              </a:rPr>
              <a:t>O problema em três partes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Definição de aprendizado de Mitchell: tarefa, experiência e desempenho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2514600" cy="2651760"/>
          </a:xfrm>
          <a:prstGeom prst="rect">
            <a:avLst/>
          </a:prstGeom>
          <a:noFill/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22402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64B5F6"/>
                </a:solidFill>
                <a:latin typeface="Times New Roman"/>
              </a:rPr>
              <a:t>Tarefa (T)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224028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Classificar uma notícia em 5 categorias a partir do texto: business, entertainment, politics, sport e tech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508760"/>
            <a:ext cx="2514600" cy="2651760"/>
          </a:xfrm>
          <a:prstGeom prst="rect">
            <a:avLst/>
          </a:prstGeom>
          <a:noFill/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645920"/>
            <a:ext cx="22402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B74D"/>
                </a:solidFill>
                <a:latin typeface="Times New Roman"/>
              </a:rPr>
              <a:t>Experiência (E)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240280"/>
            <a:ext cx="224028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1.275 notícias rotuladas (60% da base), representadas por TF-IDF + 2 atributos estruturados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508760"/>
            <a:ext cx="2514600" cy="265176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645920"/>
            <a:ext cx="22402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Desempenho (P)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240280"/>
            <a:ext cx="224028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Precision, recall, F1 micro e F1 macro em 426 notícias de teste nunca vistas no treino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81728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BDBDBD"/>
                </a:solidFill>
                <a:latin typeface="Times New Roman"/>
              </a:rPr>
              <a:t>Mitchell, T. Machine Learning (1997): um programa aprende com a experiência E na tarefa T se o desempenho P melhora com 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Times New Roman"/>
              </a:rPr>
              <a:t>Tarefa: 2.126 notícias em 5 categorias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Base BBC News (2004–2005)</a:t>
            </a:r>
          </a:p>
        </p:txBody>
      </p:sp>
      <p:pic>
        <p:nvPicPr>
          <p:cNvPr id="4" name="Picture 3" descr="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4480560" cy="31019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20640" y="1417320"/>
            <a:ext cx="356616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182880">
              <a:spcAft>
                <a:spcPts val="600"/>
              </a:spcAft>
              <a:buChar char="•"/>
            </a:pPr>
            <a:r>
              <a:rPr sz="1400" b="1">
                <a:solidFill>
                  <a:srgbClr val="FFFFFF"/>
                </a:solidFill>
                <a:latin typeface="Times New Roman"/>
              </a:rPr>
              <a:t>Origem: </a:t>
            </a:r>
            <a:r>
              <a:rPr sz="1400" b="0">
                <a:solidFill>
                  <a:srgbClr val="FFFFFF"/>
                </a:solidFill>
                <a:latin typeface="Times New Roman"/>
              </a:rPr>
              <a:t>site da BBC, 2.225 notícias (Greene &amp; Cunningham, 2006)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1">
                <a:solidFill>
                  <a:srgbClr val="FFFFFF"/>
                </a:solidFill>
                <a:latin typeface="Times New Roman"/>
              </a:rPr>
              <a:t>Formato: </a:t>
            </a:r>
            <a:r>
              <a:rPr sz="1400" b="0">
                <a:solidFill>
                  <a:srgbClr val="FFFFFF"/>
                </a:solidFill>
                <a:latin typeface="Times New Roman"/>
              </a:rPr>
              <a:t>texto livre em inglês + categoria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1">
                <a:solidFill>
                  <a:srgbClr val="FFFFFF"/>
                </a:solidFill>
                <a:latin typeface="Times New Roman"/>
              </a:rPr>
              <a:t>Tamanho: </a:t>
            </a:r>
            <a:r>
              <a:rPr sz="1400" b="0">
                <a:solidFill>
                  <a:srgbClr val="FFFFFF"/>
                </a:solidFill>
                <a:latin typeface="Times New Roman"/>
              </a:rPr>
              <a:t>mediana de 337 palavras; de 90 a 4.492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1">
                <a:solidFill>
                  <a:srgbClr val="FFFFFF"/>
                </a:solidFill>
                <a:latin typeface="Times New Roman"/>
              </a:rPr>
              <a:t>Limpeza: </a:t>
            </a:r>
            <a:r>
              <a:rPr sz="1400" b="0">
                <a:solidFill>
                  <a:srgbClr val="FFFFFF"/>
                </a:solidFill>
                <a:latin typeface="Times New Roman"/>
              </a:rPr>
              <a:t>99 textos duplicados removidos, evitando que a mesma notícia caia no treino e no teste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1">
                <a:solidFill>
                  <a:srgbClr val="FFFFFF"/>
                </a:solidFill>
                <a:latin typeface="Times New Roman"/>
              </a:rPr>
              <a:t>Equilíbrio: </a:t>
            </a:r>
            <a:r>
              <a:rPr sz="1400" b="0">
                <a:solidFill>
                  <a:srgbClr val="FFFFFF"/>
                </a:solidFill>
                <a:latin typeface="Times New Roman"/>
              </a:rPr>
              <a:t>maior classe (sport, 504) tem 1,45× a menor (tech, 347)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81728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BDBDBD"/>
                </a:solidFill>
                <a:latin typeface="Times New Roman"/>
              </a:rPr>
              <a:t>Duplicatas tinham sempre o mesmo rótulo; mantida uma cópia de cada. Requisitos do enunciado: ≥ 2.000 instâncias e ≥ 5 classes.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Times New Roman"/>
              </a:rPr>
              <a:t>O vocabulário já separa as categorias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Termos com maior TF-IDF médio por categoria (treino)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8046720" cy="2304288"/>
        </p:xfrm>
        <a:graphic>
          <a:graphicData uri="http://schemas.openxmlformats.org/drawingml/2006/table">
            <a:tbl>
              <a:tblPr firstRow="0" bandRow="0"/>
              <a:tblGrid>
                <a:gridCol w="1609344"/>
                <a:gridCol w="1609344"/>
                <a:gridCol w="1609344"/>
                <a:gridCol w="1609344"/>
                <a:gridCol w="1609344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business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entertainment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politics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sport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tech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company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film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mr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game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people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market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best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labour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win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technology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growth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music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government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match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users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firm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award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election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season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online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bank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star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party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cup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computer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shares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actor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blair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coach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software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Palavras de cada tema quase não aparecem nos outros: o texto carrega o sinal da classe.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Termos genéricos como "said" e "year" aparecem em todas e pesam pouco no IDF.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81728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BDBDBD"/>
                </a:solidFill>
                <a:latin typeface="Times New Roman"/>
              </a:rPr>
              <a:t>TF-IDF ajustado só no treino: uni e bigramas, stopwords removidas, min_df = 2, 1.000 termos, TF sublinear, norma L2.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Times New Roman"/>
              </a:rPr>
              <a:t>Experiência: cada notícia vira 1.002 atributos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Pipeline sem vazamento entre treino, validação e teste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783080" cy="1600200"/>
          </a:xfrm>
          <a:prstGeom prst="rect">
            <a:avLst/>
          </a:prstGeom>
          <a:noFill/>
          <a:ln w="15875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645920"/>
            <a:ext cx="1645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Times New Roman"/>
              </a:rPr>
              <a:t>Divisão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103120"/>
            <a:ext cx="164592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60 / 20 / 20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1.275 · 425 · 426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estratificada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2103120"/>
            <a:ext cx="2743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Times New Roman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554480"/>
            <a:ext cx="1783080" cy="1600200"/>
          </a:xfrm>
          <a:prstGeom prst="rect">
            <a:avLst/>
          </a:prstGeom>
          <a:noFill/>
          <a:ln w="15875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9192" y="1645920"/>
            <a:ext cx="1645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Times New Roman"/>
              </a:rPr>
              <a:t>TF-IDF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9192" y="2103120"/>
            <a:ext cx="164592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1.000 termos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uni + bigramas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93% de zeros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103120"/>
            <a:ext cx="2743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Times New Roman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554480"/>
            <a:ext cx="1783080" cy="1600200"/>
          </a:xfrm>
          <a:prstGeom prst="rect">
            <a:avLst/>
          </a:prstGeom>
          <a:noFill/>
          <a:ln w="15875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1645920"/>
            <a:ext cx="1645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Times New Roman"/>
              </a:rPr>
              <a:t>Estruturados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103120"/>
            <a:ext cx="164592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nº de palavras e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tam. médio da palavra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em quantis [0, 1]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03120"/>
            <a:ext cx="2743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Times New Roman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0840" y="1554480"/>
            <a:ext cx="1783080" cy="1600200"/>
          </a:xfrm>
          <a:prstGeom prst="rect">
            <a:avLst/>
          </a:prstGeom>
          <a:noFill/>
          <a:ln w="15875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93992" y="1645920"/>
            <a:ext cx="1645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Times New Roman"/>
              </a:rPr>
              <a:t>Modelos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3992" y="2103120"/>
            <a:ext cx="164592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LR-GD (4 penalidades)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Árvore de Decisão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própria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429000"/>
            <a:ext cx="804672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Vocabulário, IDF e quantis são ajustados só no subconjunto de treino de cada modelo; validação e teste só passam por transform.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Quantis em vez de z-score: o TF-IDF tem valores ≈ 0,05 e o tamanho do texto (até 17 desvios) dominava o gradiente (F1 0,80 → 0,94).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Times New Roman"/>
              </a:rPr>
              <a:t>Dois modelos com vieses opostos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Regressão logística soma evidências; a árvore decide por cortes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3886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64B5F6"/>
                </a:solidFill>
                <a:latin typeface="Times New Roman"/>
              </a:rPr>
              <a:t>LR com Gradient Descent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388620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SGDClassifier, perda logística, um-contra-resto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4 variantes: sem penalidade, Ridge (L2), Lasso (L1), Elastic Net (50/50)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160 épocas, taxa inicial 0,1 com decaimento, média dos pesos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alpha escolhido na validação entre 1e-5 e 1e-1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1371600"/>
            <a:ext cx="3886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B74D"/>
                </a:solidFill>
                <a:latin typeface="Times New Roman"/>
              </a:rPr>
              <a:t>Árvore de Decisão própria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1783080"/>
            <a:ext cx="388620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CART com Gini, fit e predict implementados do zero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Testa todos os cortes de todos os atributos com contagens cumulativas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Parada: profundidade, nó puro, mín. 8 amostras por folha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Validada contra o sklearn: F1 0,61 × 0,61 (prof. 5) e 0,72 × 0,73 (prof. 10)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Times New Roman"/>
              </a:rPr>
              <a:t>Alpha pequeno é o ideal; alpha alto destrói a LR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Busca de alpha: F1 macro na validação, treino completo</a:t>
            </a:r>
          </a:p>
        </p:txBody>
      </p:sp>
      <p:pic>
        <p:nvPicPr>
          <p:cNvPr id="4" name="Picture 3" descr="alp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0"/>
            <a:ext cx="5120640" cy="31384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0" y="1417320"/>
            <a:ext cx="297180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182880">
              <a:spcAft>
                <a:spcPts val="600"/>
              </a:spcAft>
              <a:buChar char="•"/>
            </a:pPr>
            <a:r>
              <a:rPr sz="1400" b="1">
                <a:solidFill>
                  <a:srgbClr val="FFFFFF"/>
                </a:solidFill>
                <a:latin typeface="Times New Roman"/>
              </a:rPr>
              <a:t>Escolhidos: </a:t>
            </a:r>
            <a:r>
              <a:rPr sz="1400" b="0">
                <a:solidFill>
                  <a:srgbClr val="FFFFFF"/>
                </a:solidFill>
                <a:latin typeface="Times New Roman"/>
              </a:rPr>
              <a:t>Ridge 1e-4, Lasso e Elastic Net 1e-5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Até 1e-4 as três ficam em 0,96–0,97, igual à LR sem penalidade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Com 1e-2, Lasso e Elastic Net caem para ≈ 0,2: o L1 zera quase todos os pesos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Ridge resiste mais (0,88 com 1e-2) porque só encolhe os pesos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Times New Roman"/>
              </a:rPr>
              <a:t>LR: mais dados aproximam treino e validação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Curvas de aprendizado 1–4 · média ± desvio de 3 sementes</a:t>
            </a:r>
          </a:p>
        </p:txBody>
      </p:sp>
      <p:pic>
        <p:nvPicPr>
          <p:cNvPr id="4" name="Picture 3" descr="curvas_l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61872"/>
            <a:ext cx="6239786" cy="3337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3720" y="1371600"/>
            <a:ext cx="18288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182880">
              <a:spcAft>
                <a:spcPts val="600"/>
              </a:spcAft>
              <a:buChar char="•"/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Validação: 0,87 → 0,97 de 128 para 1.275 notícias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Gap final ≈ 0,015: sem sobreajuste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As 4 curvas quase se sobrepõem: com alpha pequeno a penalidade muda pouco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Times New Roman"/>
              </a:rPr>
              <a:t>Árvore: ganha até a profundidade 10 e depois estagna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Curva 5 · F1 macro × profundidade máxima (treino completo)</a:t>
            </a:r>
          </a:p>
        </p:txBody>
      </p:sp>
      <p:pic>
        <p:nvPicPr>
          <p:cNvPr id="4" name="Picture 3" descr="curva_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0"/>
            <a:ext cx="5120640" cy="31384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0" y="1417320"/>
            <a:ext cx="297180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Profundidade 1 só separa 1 tema: F1 0,20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Melhor validação na prof. 10: 0,72 (83 nós)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A partir daí o treino sobe (0,81) e a validação cai: começa o sobreajuste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Texto exige muitos cortes; cada nó usa uma palavra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Times New Roman"/>
              </a:rPr>
              <a:t>Consistência: a LR estabiliza, a árvore oscila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Treino com 30%, 60% e 90% da partição de treino · 3 sementes</a:t>
            </a:r>
          </a:p>
        </p:txBody>
      </p:sp>
      <p:pic>
        <p:nvPicPr>
          <p:cNvPr id="4" name="Picture 3" descr="consist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0"/>
            <a:ext cx="5120640" cy="31384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0" y="1417320"/>
            <a:ext cx="297180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LR Ridge: 0,94 → 0,96 → 0,96, desvio de 0,010 para 0,002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AD: 0,69 → 0,68 → 0,72, desvio ≈ 0,02 em todos os tamanhos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Pequenas mudanças nos dados mudam os cortes da árvore: modelo de alta variância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81728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BDBDBD"/>
                </a:solidFill>
                <a:latin typeface="Times New Roman"/>
              </a:rPr>
              <a:t>Barras: média do F1 macro na validação; linhas: desvio-padrão entre as sementes 42, 43 e 44.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Times New Roman"/>
              </a:rPr>
              <a:t>Desempenho: a LR acerta 96,5% das notícias de teste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Métricas no teste (426 notícias) dos três modelos escolhidos pela validação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8046720" cy="1920240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1371600"/>
                <a:gridCol w="1325880"/>
                <a:gridCol w="1280160"/>
                <a:gridCol w="13258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Modelo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Precision macro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Recall macro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F1 micro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F1 macro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LR sem regularização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64B5F6"/>
                          </a:solidFill>
                          <a:latin typeface="Times New Roman"/>
                        </a:rPr>
                        <a:t>0,970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64B5F6"/>
                          </a:solidFill>
                          <a:latin typeface="Times New Roman"/>
                        </a:rPr>
                        <a:t>0,961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64B5F6"/>
                          </a:solidFill>
                          <a:latin typeface="Times New Roman"/>
                        </a:rPr>
                        <a:t>0,965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64B5F6"/>
                          </a:solidFill>
                          <a:latin typeface="Times New Roman"/>
                        </a:rPr>
                        <a:t>0,965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LR Elastic Net (α=1e-5)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0,968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0,958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0,962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0,962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AD própria (prof. 10)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0,776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0,736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0,751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0,744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Baseline (classe mais comum)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0,047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0,200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0,237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Times New Roman"/>
                        </a:rPr>
                        <a:t>0,077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520440"/>
            <a:ext cx="80467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F1 micro = acurácia, pois cada notícia tem um único rótulo; macro dá o mesmo peso às 5 classes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Micro ≈ macro em todos os modelos: as classes são equilibradas e nenhuma é abandonada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Times New Roman"/>
              </a:rPr>
              <a:t>A LR supera a árvore em 22 pontos de F1 macro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81728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BDBDBD"/>
                </a:solidFill>
                <a:latin typeface="Times New Roman"/>
              </a:rPr>
              <a:t>Todas as 81 configurações (curvas, profundidades e consistência) foram avaliadas no teste: resultados/metricas_teste_todos_casos.csv.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Times New Roman"/>
              </a:rPr>
              <a:t>A árvore erra empurrando notícias para "sport"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Matrizes de confusão no teste dos três modelos selecionados</a:t>
            </a:r>
          </a:p>
        </p:txBody>
      </p:sp>
      <p:pic>
        <p:nvPicPr>
          <p:cNvPr id="4" name="Picture 3" descr="confu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61872"/>
            <a:ext cx="8412480" cy="3224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LR: 15 erros, quase todos virando business (economia aparece em tech e política). AD: 53 notícias viram sport; tech tem recall de 57%.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Times New Roman"/>
              </a:rPr>
              <a:t>47 dos 53 erros vêm de uma única folha "lixeira"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Caminho principal da árvore: cada nó pergunta se o texto tem uma palavra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98448" cy="457200"/>
          </a:xfrm>
          <a:prstGeom prst="rect">
            <a:avLst/>
          </a:prstGeom>
          <a:noFill/>
          <a:ln w="15875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26464"/>
            <a:ext cx="129844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imes New Roman"/>
              </a:rPr>
              <a:t>"labour"?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47088"/>
            <a:ext cx="148132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BDBDBD"/>
                </a:solidFill>
                <a:latin typeface="Times New Roman"/>
              </a:rPr>
              <a:t>sim → politics (131/146)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399032"/>
            <a:ext cx="420623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1371600"/>
            <a:ext cx="1298448" cy="457200"/>
          </a:xfrm>
          <a:prstGeom prst="rect">
            <a:avLst/>
          </a:prstGeom>
          <a:noFill/>
          <a:ln w="15875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31136" y="1426464"/>
            <a:ext cx="129844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imes New Roman"/>
              </a:rPr>
              <a:t>"film"?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9696" y="1847088"/>
            <a:ext cx="148132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BDBDBD"/>
                </a:solidFill>
                <a:latin typeface="Times New Roman"/>
              </a:rPr>
              <a:t>sim → entertain. (106/128)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1296" y="1399032"/>
            <a:ext cx="420623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13631" y="1371600"/>
            <a:ext cx="1298448" cy="457200"/>
          </a:xfrm>
          <a:prstGeom prst="rect">
            <a:avLst/>
          </a:prstGeom>
          <a:noFill/>
          <a:ln w="15875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13631" y="1426464"/>
            <a:ext cx="129844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imes New Roman"/>
              </a:rPr>
              <a:t>"win"?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1" y="1847088"/>
            <a:ext cx="148132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BDBDBD"/>
                </a:solidFill>
                <a:latin typeface="Times New Roman"/>
              </a:rPr>
              <a:t>sim → sport (136/164)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1399032"/>
            <a:ext cx="420623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96127" y="1371600"/>
            <a:ext cx="1298448" cy="457200"/>
          </a:xfrm>
          <a:prstGeom prst="rect">
            <a:avLst/>
          </a:prstGeom>
          <a:noFill/>
          <a:ln w="15875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96127" y="1426464"/>
            <a:ext cx="129844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imes New Roman"/>
              </a:rPr>
              <a:t>"users"?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4688" y="1847088"/>
            <a:ext cx="148132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BDBDBD"/>
                </a:solidFill>
                <a:latin typeface="Times New Roman"/>
              </a:rPr>
              <a:t>sim → tech (78/81)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1399032"/>
            <a:ext cx="420623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78623" y="1371600"/>
            <a:ext cx="1298448" cy="457200"/>
          </a:xfrm>
          <a:prstGeom prst="rect">
            <a:avLst/>
          </a:prstGeom>
          <a:noFill/>
          <a:ln w="15875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78623" y="1426464"/>
            <a:ext cx="129844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imes New Roman"/>
              </a:rPr>
              <a:t>"music"?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7183" y="1847088"/>
            <a:ext cx="148132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BDBDBD"/>
                </a:solidFill>
                <a:latin typeface="Times New Roman"/>
              </a:rPr>
              <a:t>sim → entertain. (49/85)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560320"/>
            <a:ext cx="1298448" cy="457200"/>
          </a:xfrm>
          <a:prstGeom prst="rect">
            <a:avLst/>
          </a:prstGeom>
          <a:noFill/>
          <a:ln w="15875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615184"/>
            <a:ext cx="129844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imes New Roman"/>
              </a:rPr>
              <a:t>"market"?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035808"/>
            <a:ext cx="148132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BDBDBD"/>
                </a:solidFill>
                <a:latin typeface="Times New Roman"/>
              </a:rPr>
              <a:t>sim → business (113/133)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2587751"/>
            <a:ext cx="420623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31136" y="2560320"/>
            <a:ext cx="1298448" cy="457200"/>
          </a:xfrm>
          <a:prstGeom prst="rect">
            <a:avLst/>
          </a:prstGeom>
          <a:noFill/>
          <a:ln w="15875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31136" y="2615184"/>
            <a:ext cx="129844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imes New Roman"/>
              </a:rPr>
              <a:t>"mr"?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39696" y="3035808"/>
            <a:ext cx="148132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BDBDBD"/>
                </a:solidFill>
                <a:latin typeface="Times New Roman"/>
              </a:rPr>
              <a:t>sim → politics (71/165)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11296" y="2587751"/>
            <a:ext cx="420623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13631" y="2560320"/>
            <a:ext cx="1298448" cy="457200"/>
          </a:xfrm>
          <a:prstGeom prst="rect">
            <a:avLst/>
          </a:prstGeom>
          <a:noFill/>
          <a:ln w="15875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13631" y="2615184"/>
            <a:ext cx="129844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imes New Roman"/>
              </a:rPr>
              <a:t>"economy"?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22191" y="3035808"/>
            <a:ext cx="148132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BDBDBD"/>
                </a:solidFill>
                <a:latin typeface="Times New Roman"/>
              </a:rPr>
              <a:t>sim → business (30/32)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93792" y="2587751"/>
            <a:ext cx="420623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96127" y="2560320"/>
            <a:ext cx="1298448" cy="457200"/>
          </a:xfrm>
          <a:prstGeom prst="rect">
            <a:avLst/>
          </a:prstGeom>
          <a:noFill/>
          <a:ln w="15875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96127" y="2615184"/>
            <a:ext cx="129844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imes New Roman"/>
              </a:rPr>
              <a:t>"company"?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04688" y="3035808"/>
            <a:ext cx="148132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BDBDBD"/>
                </a:solidFill>
                <a:latin typeface="Times New Roman"/>
              </a:rPr>
              <a:t>sim → business (29/36)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76288" y="2587751"/>
            <a:ext cx="420623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78623" y="2560320"/>
            <a:ext cx="1298448" cy="457200"/>
          </a:xfrm>
          <a:prstGeom prst="rect">
            <a:avLst/>
          </a:prstGeom>
          <a:noFill/>
          <a:ln w="15875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78623" y="2615184"/>
            <a:ext cx="129844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imes New Roman"/>
              </a:rPr>
              <a:t>"coach"?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87183" y="3035808"/>
            <a:ext cx="148132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BDBDBD"/>
                </a:solidFill>
                <a:latin typeface="Times New Roman"/>
              </a:rPr>
              <a:t>sim → sport (46/46)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04303" y="2212848"/>
            <a:ext cx="184708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BDBDBD"/>
                </a:solidFill>
                <a:latin typeface="Times New Roman"/>
              </a:rPr>
              <a:t>não → continua em "market"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78623" y="3310127"/>
            <a:ext cx="129844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BDBDBD"/>
                </a:solidFill>
                <a:latin typeface="Times New Roman"/>
              </a:rPr>
              <a:t>↓ não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3657600"/>
            <a:ext cx="8046720" cy="914400"/>
          </a:xfrm>
          <a:prstGeom prst="rect">
            <a:avLst/>
          </a:prstGeom>
          <a:solidFill>
            <a:srgbClr val="3A2E1C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3703320"/>
            <a:ext cx="777240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Times New Roman"/>
              </a:rPr>
              <a:t>Folha-lixeira: "não" para as 10 palavras</a:t>
            </a:r>
            <a:r>
              <a:rPr sz="1300" b="0">
                <a:solidFill>
                  <a:srgbClr val="FFFFFF"/>
                </a:solidFill>
                <a:latin typeface="Times New Roman"/>
              </a:rPr>
              <a:t>  ·  treino: 115 sport, 44 bus., 42 ent., 29 pol., 29 tech → prevê sport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No teste: 83 notícias caíram aqui; 36 eram sport e </a:t>
            </a:r>
            <a:r>
              <a:rPr sz="1300" b="1">
                <a:solidFill>
                  <a:srgbClr val="FFFFFF"/>
                </a:solidFill>
                <a:latin typeface="Times New Roman"/>
              </a:rPr>
              <a:t>47 eram de outras categorias (erro)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681728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BDBDBD"/>
                </a:solidFill>
                <a:latin typeface="Times New Roman"/>
              </a:rPr>
              <a:t>Entre parênteses: notícias de treino da classe majoritária / total que respondeu "sim". Os ramos "sim" continuam se dividindo abaixo.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Times New Roman"/>
              </a:rPr>
              <a:t>Sport é a classe definida pela ausência de palavras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Por que a lixeira vira sport e por que aprofundar não resolve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402336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182880">
              <a:spcAft>
                <a:spcPts val="800"/>
              </a:spcAft>
              <a:buChar char="•"/>
            </a:pPr>
            <a:r>
              <a:rPr sz="1300" b="1">
                <a:solidFill>
                  <a:srgbClr val="FFFFFF"/>
                </a:solidFill>
                <a:latin typeface="Times New Roman"/>
              </a:rPr>
              <a:t>Vocabulário disperso: </a:t>
            </a:r>
            <a:r>
              <a:rPr sz="1300" b="0">
                <a:solidFill>
                  <a:srgbClr val="FFFFFF"/>
                </a:solidFill>
                <a:latin typeface="Times New Roman"/>
              </a:rPr>
              <a:t>tênis, rúgbi e críquete quase não compartilham palavras; "win" e "coach" pegam só parte das notícias</a:t>
            </a:r>
          </a:p>
          <a:p>
            <a:pPr algn="l" marL="228600" indent="-182880">
              <a:spcAft>
                <a:spcPts val="800"/>
              </a:spcAft>
              <a:buChar char="•"/>
            </a:pPr>
            <a:r>
              <a:rPr sz="1300" b="1">
                <a:solidFill>
                  <a:srgbClr val="FFFFFF"/>
                </a:solidFill>
                <a:latin typeface="Times New Roman"/>
              </a:rPr>
              <a:t>Âncoras fortes nas outras: </a:t>
            </a:r>
            <a:r>
              <a:rPr sz="1300" b="0">
                <a:solidFill>
                  <a:srgbClr val="FFFFFF"/>
                </a:solidFill>
                <a:latin typeface="Times New Roman"/>
              </a:rPr>
              <a:t>"labour" → politics, "film" → entertainment; a árvore as separa primeiro e sport fica com o que sobra</a:t>
            </a:r>
          </a:p>
          <a:p>
            <a:pPr algn="l" marL="228600" indent="-182880">
              <a:spcAft>
                <a:spcPts val="800"/>
              </a:spcAft>
              <a:buChar char="•"/>
            </a:pPr>
            <a:r>
              <a:rPr sz="1300" b="1">
                <a:solidFill>
                  <a:srgbClr val="FFFFFF"/>
                </a:solidFill>
                <a:latin typeface="Times New Roman"/>
              </a:rPr>
              <a:t>Pouca cobertura: </a:t>
            </a:r>
            <a:r>
              <a:rPr sz="1300" b="0">
                <a:solidFill>
                  <a:srgbClr val="FFFFFF"/>
                </a:solidFill>
                <a:latin typeface="Times New Roman"/>
              </a:rPr>
              <a:t>"users" está em 6% dos textos, "coach" em 7,5%; a árvore usa só 34 das 1.002 palavras</a:t>
            </a:r>
          </a:p>
          <a:p>
            <a:pPr algn="l" marL="228600" indent="-182880">
              <a:spcAft>
                <a:spcPts val="800"/>
              </a:spcAft>
              <a:buChar char="•"/>
            </a:pPr>
            <a:r>
              <a:rPr sz="1300" b="1">
                <a:solidFill>
                  <a:srgbClr val="FFFFFF"/>
                </a:solidFill>
                <a:latin typeface="Times New Roman"/>
              </a:rPr>
              <a:t>Exemplo: </a:t>
            </a:r>
            <a:r>
              <a:rPr sz="1300" b="0">
                <a:solidFill>
                  <a:srgbClr val="FFFFFF"/>
                </a:solidFill>
                <a:latin typeface="Times New Roman"/>
              </a:rPr>
              <a:t>notícia de tech sobre um jogo do Xbox ("platform game… xbox console") não tem nenhuma das 10 palavras e vira sport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846320" y="1417320"/>
          <a:ext cx="3749040" cy="1828800"/>
        </p:xfrm>
        <a:graphic>
          <a:graphicData uri="http://schemas.openxmlformats.org/drawingml/2006/table">
            <a:tbl>
              <a:tblPr firstRow="0" bandRow="0"/>
              <a:tblGrid>
                <a:gridCol w="1234440"/>
                <a:gridCol w="868680"/>
                <a:gridCol w="100584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Profundidade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Acurácia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Erros → sport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Nós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10 (escolhida)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64B5F6"/>
                          </a:solidFill>
                          <a:latin typeface="Times New Roman"/>
                        </a:rPr>
                        <a:t>75,1%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64B5F6"/>
                          </a:solidFill>
                          <a:latin typeface="Times New Roman"/>
                        </a:rPr>
                        <a:t>53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64B5F6"/>
                          </a:solidFill>
                          <a:latin typeface="Times New Roman"/>
                        </a:rPr>
                        <a:t>83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15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</a:rPr>
                        <a:t>75,1%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</a:rPr>
                        <a:t>9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</a:rPr>
                        <a:t>115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20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</a:rPr>
                        <a:t>77,2%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</a:rPr>
                        <a:t>10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</a:rPr>
                        <a:t>131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30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</a:rPr>
                        <a:t>77,0%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</a:rPr>
                        <a:t>10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</a:rPr>
                        <a:t>139</a:t>
                      </a:r>
                    </a:p>
                  </a:txBody>
                  <a:tcPr marL="54864" marR="54864" marT="18288" marB="18288" anchor="ctr">
                    <a:noFill/>
                    <a:lnL w="9525" cap="flat" cmpd="sng">
                      <a:solidFill>
                        <a:srgbClr val="FFFFFF"/>
                      </a:solidFill>
                    </a:lnL>
                    <a:lnR w="9525" cap="flat" cmpd="sng">
                      <a:solidFill>
                        <a:srgbClr val="FFFFFF"/>
                      </a:solidFill>
                    </a:lnR>
                    <a:lnT w="9525" cap="flat" cmpd="sng">
                      <a:solidFill>
                        <a:srgbClr val="FFFFFF"/>
                      </a:solidFill>
                    </a:lnT>
                    <a:lnB w="9525" cap="flat" cmpd="sng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846320" y="3429000"/>
            <a:ext cx="3749039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182880">
              <a:spcAft>
                <a:spcPts val="400"/>
              </a:spcAft>
              <a:buChar char="•"/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Mais profundidade divide a lixeira e os erros para sport somem…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300" b="0">
                <a:solidFill>
                  <a:srgbClr val="FFFFFF"/>
                </a:solidFill>
                <a:latin typeface="Times New Roman"/>
              </a:rPr>
              <a:t>…mas a acurácia não sobe: os erros só migram para outras folhas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81728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BDBDBD"/>
                </a:solidFill>
                <a:latin typeface="Times New Roman"/>
              </a:rPr>
              <a:t>Árvore própria re-treinada no treino completo com min. 8 amostras por folha; métricas no conjunto de teste (426 notícias).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Times New Roman"/>
              </a:rPr>
              <a:t>Conclusões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182880">
              <a:spcAft>
                <a:spcPts val="1000"/>
              </a:spcAft>
              <a:buChar char="•"/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Tarefa: </a:t>
            </a:r>
            <a:r>
              <a:rPr sz="1600" b="0">
                <a:solidFill>
                  <a:srgbClr val="FFFFFF"/>
                </a:solidFill>
                <a:latin typeface="Times New Roman"/>
              </a:rPr>
              <a:t>classificar notícias por tema é viável com texto livre; o vocabulário de cada categoria é bem distinto.</a:t>
            </a:r>
          </a:p>
          <a:p>
            <a:pPr algn="l" marL="228600" indent="-182880">
              <a:spcAft>
                <a:spcPts val="1000"/>
              </a:spcAft>
              <a:buChar char="•"/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Experiência: </a:t>
            </a:r>
            <a:r>
              <a:rPr sz="1600" b="0">
                <a:solidFill>
                  <a:srgbClr val="FFFFFF"/>
                </a:solidFill>
                <a:latin typeface="Times New Roman"/>
              </a:rPr>
              <a:t>a LR passa de 0,87 para 0,97 de F1 com 10× mais notícias; a árvore quase não se beneficia.</a:t>
            </a:r>
          </a:p>
          <a:p>
            <a:pPr algn="l" marL="228600" indent="-182880">
              <a:spcAft>
                <a:spcPts val="1000"/>
              </a:spcAft>
              <a:buChar char="•"/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Desempenho: </a:t>
            </a:r>
            <a:r>
              <a:rPr sz="1600" b="0">
                <a:solidFill>
                  <a:srgbClr val="FFFFFF"/>
                </a:solidFill>
                <a:latin typeface="Times New Roman"/>
              </a:rPr>
              <a:t>LR-GD com 96,5% de acurácia contra 75,1% da árvore e 23,7% do baseline.</a:t>
            </a:r>
          </a:p>
          <a:p>
            <a:pPr algn="l" marL="228600" indent="-182880">
              <a:spcAft>
                <a:spcPts val="1000"/>
              </a:spcAft>
              <a:buChar char="•"/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Por quê: </a:t>
            </a:r>
            <a:r>
              <a:rPr sz="1600" b="0">
                <a:solidFill>
                  <a:srgbClr val="FFFFFF"/>
                </a:solidFill>
                <a:latin typeface="Times New Roman"/>
              </a:rPr>
              <a:t>a LR soma pequenas evidências de centenas de palavras; a árvore decide por uma palavra por vez e joga quem não tem nenhuma palavra-chave numa folha-lixeira.</a:t>
            </a:r>
          </a:p>
          <a:p>
            <a:pPr algn="l" marL="228600" indent="-182880">
              <a:spcAft>
                <a:spcPts val="1000"/>
              </a:spcAft>
              <a:buChar char="•"/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Regularização: </a:t>
            </a:r>
            <a:r>
              <a:rPr sz="1600" b="0">
                <a:solidFill>
                  <a:srgbClr val="FFFFFF"/>
                </a:solidFill>
                <a:latin typeface="Times New Roman"/>
              </a:rPr>
              <a:t>com 1.002 atributos e treino ≈ validação, penalidade não ajudou; alpha alto destrói o modelo (L1 zera os pesos).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